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prime-coders-sams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prime-coders-sams.vercel.app" TargetMode="External"/><Relationship Id="rId2" Type="http://schemas.openxmlformats.org/officeDocument/2006/relationships/hyperlink" Target="https://prime-coders-sams.vercel.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8860B"/>
                </a:solidFill>
              </a:rPr>
              <a:t>RAJARATA UNIVERSITY · DEPARTMENT OF COMPUTING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6858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to the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semester's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rules.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42062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DB8"/>
                </a:solidFill>
              </a:rPr>
              <a:t>Fifteen weeks. Lecturers mark until Week 14.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DB8"/>
                </a:solidFill>
              </a:rPr>
              <a:t>After that, only the Head of Department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0ADB8"/>
                </a:solidFill>
              </a:rPr>
              <a:t>can change a record.  Eligibility is 80 %.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5349240"/>
            <a:ext cx="3822192" cy="329184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349240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B5"/>
                </a:solidFill>
              </a:rPr>
              <a:t>Present · Absent · Medical · Excused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5349240"/>
            <a:ext cx="2189988" cy="329184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5349240"/>
            <a:ext cx="20985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B5"/>
                </a:solidFill>
              </a:rPr>
              <a:t>3-day absence alert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08876" y="534924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00316" y="534924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B5"/>
                </a:solidFill>
              </a:rPr>
              <a:t>6 medicals alert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6126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</a:rPr>
              <a:t>ICT 1407  ·  Prime Coders  ·  Student Attendance Management System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097280"/>
            <a:ext cx="3840480" cy="438912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27000" dir="3600000">
              <a:srgbClr val="888888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508760"/>
            <a:ext cx="3291840" cy="530352"/>
          </a:xfrm>
          <a:prstGeom prst="roundRect">
            <a:avLst>
              <a:gd name="adj" fmla="val 20690"/>
            </a:avLst>
          </a:prstGeom>
          <a:solidFill>
            <a:srgbClr val="E8F8F2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1636776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8577072" y="1517904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Aiven Cloud MySQL Connected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Host: Aiven Cloud · Port: 26308 · DB: defaultdb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221284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University or approved 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242316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F9F9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24231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</a:rPr>
              <a:t>name@rjt.ac.lk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2962656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Password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3172968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F9F9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3840480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84048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 the system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6B74"/>
                </a:solidFill>
              </a:rPr>
              <a:t>Manual attendance – slow, error-prone, and opaque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0698480" cy="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25880"/>
            <a:ext cx="5486400" cy="2926080"/>
          </a:xfrm>
          <a:prstGeom prst="roundRect">
            <a:avLst>
              <a:gd name="adj" fmla="val 4688"/>
            </a:avLst>
          </a:prstGeom>
          <a:solidFill>
            <a:srgbClr val="FFF8F0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1435608"/>
            <a:ext cx="5157216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Paper registers lost or forged every semester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No real-time eligibility check → surprises at exam time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Medical documents filed in physical folders, easily misplaced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HOD had zero audit trail for post-Week-14 edits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Excel sheets imported manually with transcription errors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325880"/>
            <a:ext cx="5212080" cy="2926080"/>
          </a:xfrm>
          <a:prstGeom prst="roundRect">
            <a:avLst>
              <a:gd name="adj" fmla="val 4688"/>
            </a:avLst>
          </a:prstGeom>
          <a:solidFill>
            <a:srgbClr val="F0FFF8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56832" y="1435608"/>
            <a:ext cx="4882896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Cloud-native web app – open from any browser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Live 80 % eligibility engine per subject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Supabase medical document storage (PDF / image)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Full HOD audit log with timestamp + actor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One-click official Excel import with validation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❌  Before 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2984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✅  After SAM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61081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RAJARATA UNIVERSITY · DEPARTMENT OF COMPUTING · ICT 1407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868680"/>
            <a:ext cx="1069848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97280"/>
            <a:ext cx="2834640" cy="4206240"/>
          </a:xfrm>
          <a:prstGeom prst="roundRect">
            <a:avLst>
              <a:gd name="adj" fmla="val 6452"/>
            </a:avLst>
          </a:prstGeom>
          <a:solidFill>
            <a:srgbClr val="15263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8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25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</a:rPr>
              <a:t>HOD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304288"/>
            <a:ext cx="2286000" cy="0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Full control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Audit log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Freeze / Open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Next Semester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0" y="1097280"/>
            <a:ext cx="2834640" cy="4206240"/>
          </a:xfrm>
          <a:prstGeom prst="roundRect">
            <a:avLst>
              <a:gd name="adj" fmla="val 6452"/>
            </a:avLst>
          </a:prstGeom>
          <a:solidFill>
            <a:srgbClr val="15263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8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325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1874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</a:rPr>
              <a:t>Lecturer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31920" y="2304288"/>
            <a:ext cx="2286000" cy="0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423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Mark attendance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Until Week 14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Import Excel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Move Week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1097280"/>
            <a:ext cx="2834640" cy="4206240"/>
          </a:xfrm>
          <a:prstGeom prst="roundRect">
            <a:avLst>
              <a:gd name="adj" fmla="val 6452"/>
            </a:avLst>
          </a:prstGeom>
          <a:solidFill>
            <a:srgbClr val="15263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8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325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1874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</a:rPr>
              <a:t>Student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95160" y="2304288"/>
            <a:ext cx="2286000" cy="0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423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Verified only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View own data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Upload medicals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Check eligibility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784080" y="1097280"/>
            <a:ext cx="2834640" cy="4206240"/>
          </a:xfrm>
          <a:prstGeom prst="roundRect">
            <a:avLst>
              <a:gd name="adj" fmla="val 6452"/>
            </a:avLst>
          </a:prstGeom>
          <a:solidFill>
            <a:srgbClr val="15263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8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84080" y="1325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784080" y="1874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60B"/>
                </a:solidFill>
              </a:rPr>
              <a:t>Cloud DB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0" y="2304288"/>
            <a:ext cx="2286000" cy="0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24231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Aiven MySQL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SSL encrypted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Auto-seeded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Serverless ready</a:t>
            </a:r>
            <a:endParaRPr lang="en-US" sz="1250" dirty="0"/>
          </a:p>
        </p:txBody>
      </p:sp>
      <p:sp>
        <p:nvSpPr>
          <p:cNvPr id="26" name="Text 24">
            <a:hlinkClick r:id="rId1" tooltip=""/>
          </p:cNvPr>
          <p:cNvSpPr/>
          <p:nvPr/>
        </p:nvSpPr>
        <p:spPr>
          <a:xfrm>
            <a:off x="594360" y="61081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B8860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at  https://prime-coders-sams.vercel.app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Portal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6B74"/>
                </a:solidFill>
              </a:rPr>
              <a:t>University email authentication — three distinct entry modes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0698480" cy="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111556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41732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 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Existing users log in with their university or approved email and password. Role is detected automatically — HOD, Lecturer or Student.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926080"/>
            <a:ext cx="111556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25400">
            <a:solidFill>
              <a:srgbClr val="1A6B7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92608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26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First-Time Setup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New students register their index number, name, and set a password. Only verified students (marked by HOD) can proceed.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434840"/>
            <a:ext cx="111556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254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1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443484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434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Lecturer Setup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D1B2A"/>
                </a:solidFill>
              </a:rPr>
              <a:t>Lecturers configure their profile, link subjects they teach, and enable their attendance-marking access for the semester.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1081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803D"/>
                </a:solidFill>
              </a:rPr>
              <a:t>🟢  Aiven Cloud MySQL Connected  ·  All sessions secured with HTTPS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</a:rPr>
              <a:t>Verified Student Portal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868680"/>
            <a:ext cx="1069848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DB8"/>
                </a:solidFill>
              </a:rPr>
              <a:t>Only students verified by the Head of Department can log in.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0ADB8"/>
                </a:solidFill>
              </a:rPr>
              <a:t>Each student sees ONLY their own attendance data — no peer data is ever exposed.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3749040" cy="1691640"/>
          </a:xfrm>
          <a:prstGeom prst="roundRect">
            <a:avLst>
              <a:gd name="adj" fmla="val 973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Live Attendance 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0A4B5"/>
                </a:solidFill>
              </a:rPr>
              <a:t>Subject-by-subject percentage, colour-coded. Know your standing before the exam.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783080"/>
            <a:ext cx="3749040" cy="1691640"/>
          </a:xfrm>
          <a:prstGeom prst="roundRect">
            <a:avLst>
              <a:gd name="adj" fmla="val 973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Medical Submissions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606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0A4B5"/>
                </a:solidFill>
              </a:rPr>
              <a:t>Upload PDF or image proof directly from the portal. Stored in Supabase cloud storage.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49640" y="1783080"/>
            <a:ext cx="3749040" cy="1691640"/>
          </a:xfrm>
          <a:prstGeom prst="roundRect">
            <a:avLst>
              <a:gd name="adj" fmla="val 973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Smart Alerts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2606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0A4B5"/>
                </a:solidFill>
              </a:rPr>
              <a:t>Warned automatically after 3 consecutive absences or when 6 medicals are logged.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657600"/>
            <a:ext cx="3749040" cy="1691640"/>
          </a:xfrm>
          <a:prstGeom prst="roundRect">
            <a:avLst>
              <a:gd name="adj" fmla="val 973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" y="4160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Eligibility Status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0A4B5"/>
                </a:solidFill>
              </a:rPr>
              <a:t>80 % rule enforced live. Green = Eligible. Red = At risk. No surprises at exam time.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3749040" cy="1691640"/>
          </a:xfrm>
          <a:prstGeom prst="roundRect">
            <a:avLst>
              <a:gd name="adj" fmla="val 973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09160" y="4160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Secure &amp; Private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4480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0A4B5"/>
                </a:solidFill>
              </a:rPr>
              <a:t>Session-scoped data. You see only your index number, name, and your own records.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49640" y="3657600"/>
            <a:ext cx="3749040" cy="1691640"/>
          </a:xfrm>
          <a:prstGeom prst="roundRect">
            <a:avLst>
              <a:gd name="adj" fmla="val 973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3749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686800" y="4160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Week-by-Week View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4480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0A4B5"/>
                </a:solidFill>
              </a:rPr>
              <a:t>See attendance per lecture week. Medical and Excused statuses clearly marked.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6B74"/>
                </a:solidFill>
              </a:rPr>
              <a:t>Four statuses · real-time saving · per-lecture-week granularity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0698480" cy="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2834640" cy="4114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834640" cy="548640"/>
          </a:xfrm>
          <a:prstGeom prst="rect">
            <a:avLst/>
          </a:prstGeom>
          <a:solidFill>
            <a:srgbClr val="EBF9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✅  Present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2029968"/>
            <a:ext cx="2505456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Student attended the lecture. Counts towards the 80 % eligibility threshold.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0" y="1371600"/>
            <a:ext cx="2834640" cy="4114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371600"/>
            <a:ext cx="2834640" cy="548640"/>
          </a:xfrm>
          <a:prstGeom prst="rect">
            <a:avLst/>
          </a:prstGeom>
          <a:solidFill>
            <a:srgbClr val="FE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❌  Absent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22192" y="2029968"/>
            <a:ext cx="2505456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Student missed the lecture. Three consecutive absences trigger an automatic alert.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1371600"/>
            <a:ext cx="2834640" cy="4114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371600"/>
            <a:ext cx="2834640" cy="548640"/>
          </a:xfrm>
          <a:prstGeom prst="rect">
            <a:avLst/>
          </a:prstGeom>
          <a:solidFill>
            <a:srgbClr val="E8EFF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🏥  Medical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85432" y="2029968"/>
            <a:ext cx="2505456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Absence covered by an uploaded medical certificate. Still counted but flagged. 6 medicals = alert.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84080" y="1371600"/>
            <a:ext cx="2834640" cy="4114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0" y="1371600"/>
            <a:ext cx="2834640" cy="548640"/>
          </a:xfrm>
          <a:prstGeom prst="rect">
            <a:avLst/>
          </a:prstGeom>
          <a:solidFill>
            <a:srgbClr val="FEF3E8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📌  Excused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48672" y="2029968"/>
            <a:ext cx="2505456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D1B2A"/>
                </a:solidFill>
              </a:rPr>
              <a:t>HOD or Lecturer excused the absence (e.g., university event). Does not penalise the student.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61081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Lecturers mark attendance week by week. HOD can override any record at any time.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</a:rPr>
              <a:t>Smart Alert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868680"/>
            <a:ext cx="1069848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DB8"/>
                </a:solidFill>
              </a:rPr>
              <a:t>Proactive notifications fire automatically — no manual checking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11155680" cy="2148840"/>
          </a:xfrm>
          <a:prstGeom prst="roundRect">
            <a:avLst>
              <a:gd name="adj" fmla="val 8511"/>
            </a:avLst>
          </a:prstGeom>
          <a:solidFill>
            <a:srgbClr val="152638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72768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3-DAY ABSENCE ALERT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80360" y="15544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🚨  Consecutive Absence Warning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10744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When a student misses 3 back-to-back lectures in any subject, the system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automatically flags them. The Lecturer and HOD are both notified on their dashboards.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Early intervention prevents eligibility failure.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794760"/>
            <a:ext cx="11155680" cy="2148840"/>
          </a:xfrm>
          <a:prstGeom prst="roundRect">
            <a:avLst>
              <a:gd name="adj" fmla="val 8511"/>
            </a:avLst>
          </a:prstGeom>
          <a:solidFill>
            <a:srgbClr val="152638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04488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044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 MEDICALS ALERT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0360" y="38862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</a:rPr>
              <a:t>⚠️  Medical Overuse Threshold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10744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Students who submit 6 or more medical certificates trigger a review flag.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This deters misuse of the medical excuse system while still protecting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0ADB8"/>
                </a:solidFill>
              </a:rPr>
              <a:t>legitimately ill students. The HOD can review and override.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Document Management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6B74"/>
                </a:solidFill>
              </a:rPr>
              <a:t>Submit, store, and review medical certificates digitally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0698480" cy="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1481328"/>
            <a:ext cx="6528816" cy="4352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Students upload PDF or image files from the Student Portal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Files stored securely in Supabase Object Storage (Medicals bucket)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Each document is timestamped and linked to the student's index number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Lecturers and HOD can view and download submitted documents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Local disk fallback if Supabase is unreachable — zero data loss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6-medical threshold triggers automatic alert for HOD review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Medical attendance status is clearly distinguished from Absent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Documents remain accessible throughout the entire semester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0" y="1508760"/>
            <a:ext cx="3749040" cy="548640"/>
          </a:xfrm>
          <a:prstGeom prst="roundRect">
            <a:avLst>
              <a:gd name="adj" fmla="val 25000"/>
            </a:avLst>
          </a:prstGeom>
          <a:solidFill>
            <a:srgbClr val="D0EBEE"/>
          </a:solidFill>
          <a:ln w="15240">
            <a:solidFill>
              <a:srgbClr val="1A6B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508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1. Student uploads document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38360" y="2057400"/>
            <a:ext cx="0" cy="320040"/>
          </a:xfrm>
          <a:prstGeom prst="line">
            <a:avLst/>
          </a:prstGeom>
          <a:noFill/>
          <a:ln w="19050">
            <a:solidFill>
              <a:srgbClr val="1A6B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2377440"/>
            <a:ext cx="3749040" cy="548640"/>
          </a:xfrm>
          <a:prstGeom prst="roundRect">
            <a:avLst>
              <a:gd name="adj" fmla="val 25000"/>
            </a:avLst>
          </a:prstGeom>
          <a:solidFill>
            <a:srgbClr val="D0EBEE"/>
          </a:solidFill>
          <a:ln w="15240">
            <a:solidFill>
              <a:srgbClr val="1A6B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2. Supabase stores file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38360" y="2926080"/>
            <a:ext cx="0" cy="320040"/>
          </a:xfrm>
          <a:prstGeom prst="line">
            <a:avLst/>
          </a:prstGeom>
          <a:noFill/>
          <a:ln w="19050">
            <a:solidFill>
              <a:srgbClr val="1A6B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3246120"/>
            <a:ext cx="3749040" cy="548640"/>
          </a:xfrm>
          <a:prstGeom prst="roundRect">
            <a:avLst>
              <a:gd name="adj" fmla="val 25000"/>
            </a:avLst>
          </a:prstGeom>
          <a:solidFill>
            <a:srgbClr val="D0EBEE"/>
          </a:solidFill>
          <a:ln w="15240">
            <a:solidFill>
              <a:srgbClr val="1A6B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246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3. Record marked Medical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38360" y="3794760"/>
            <a:ext cx="0" cy="320040"/>
          </a:xfrm>
          <a:prstGeom prst="line">
            <a:avLst/>
          </a:prstGeom>
          <a:noFill/>
          <a:ln w="19050">
            <a:solidFill>
              <a:srgbClr val="1A6B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4114800"/>
            <a:ext cx="3749040" cy="548640"/>
          </a:xfrm>
          <a:prstGeom prst="roundRect">
            <a:avLst>
              <a:gd name="adj" fmla="val 25000"/>
            </a:avLst>
          </a:prstGeom>
          <a:solidFill>
            <a:srgbClr val="D0EBEE"/>
          </a:solidFill>
          <a:ln w="15240">
            <a:solidFill>
              <a:srgbClr val="1A6B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4114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4. HOD reviews if flagged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38360" y="4663440"/>
            <a:ext cx="0" cy="320040"/>
          </a:xfrm>
          <a:prstGeom prst="line">
            <a:avLst/>
          </a:prstGeom>
          <a:noFill/>
          <a:ln w="19050">
            <a:solidFill>
              <a:srgbClr val="1A6B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4983480"/>
            <a:ext cx="3749040" cy="548640"/>
          </a:xfrm>
          <a:prstGeom prst="roundRect">
            <a:avLst>
              <a:gd name="adj" fmla="val 25000"/>
            </a:avLst>
          </a:prstGeom>
          <a:solidFill>
            <a:srgbClr val="D0EBEE"/>
          </a:solidFill>
          <a:ln w="15240">
            <a:solidFill>
              <a:srgbClr val="1A6B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4983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5. Evidence preserved semester-long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</a:rPr>
              <a:t>80 % Eligibility Engine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868680"/>
            <a:ext cx="1069848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0ADB8"/>
                </a:solidFill>
              </a:rPr>
              <a:t>A student must attend at least 80 % of lectures per subject to sit for the final examination.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0ADB8"/>
                </a:solidFill>
              </a:rPr>
              <a:t>SAM calculates this live — updated the moment a lecturer saves attendance.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11155680" cy="777240"/>
          </a:xfrm>
          <a:prstGeom prst="roundRect">
            <a:avLst>
              <a:gd name="adj" fmla="val 21176"/>
            </a:avLst>
          </a:prstGeom>
          <a:solidFill>
            <a:srgbClr val="15263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  =  (Present + Medical + Excused)  ÷  Total Lectures  ×  100  ≥  80 %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3749040" cy="2560320"/>
          </a:xfrm>
          <a:prstGeom prst="roundRect">
            <a:avLst>
              <a:gd name="adj" fmla="val 7143"/>
            </a:avLst>
          </a:prstGeom>
          <a:solidFill>
            <a:srgbClr val="152638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</a:rPr>
              <a:t>Kamal Perera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2D406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337560"/>
            <a:ext cx="3078785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91 %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409651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0965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ELIGIBLE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743200"/>
            <a:ext cx="3749040" cy="2560320"/>
          </a:xfrm>
          <a:prstGeom prst="roundRect">
            <a:avLst>
              <a:gd name="adj" fmla="val 7143"/>
            </a:avLst>
          </a:prstGeom>
          <a:solidFill>
            <a:srgbClr val="152638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</a:rPr>
              <a:t>Nimesha Silva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2D4060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337560"/>
            <a:ext cx="263895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78 %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12080" y="409651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40965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 RISK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743200"/>
            <a:ext cx="3749040" cy="2560320"/>
          </a:xfrm>
          <a:prstGeom prst="roundRect">
            <a:avLst>
              <a:gd name="adj" fmla="val 7143"/>
            </a:avLst>
          </a:prstGeom>
          <a:solidFill>
            <a:srgbClr val="152638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2880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</a:rPr>
              <a:t>Tharindu Bandara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32520" y="3337560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2D4060"/>
          </a:solidFill>
          <a:ln/>
        </p:spPr>
      </p:sp>
      <p:sp>
        <p:nvSpPr>
          <p:cNvPr id="26" name="Shape 24"/>
          <p:cNvSpPr/>
          <p:nvPr/>
        </p:nvSpPr>
        <p:spPr>
          <a:xfrm>
            <a:off x="8732520" y="3337560"/>
            <a:ext cx="1860804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55 %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89720" y="409651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40965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 ELIGIBLE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Week  ·  Open Next Semester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6B74"/>
                </a:solidFill>
              </a:rPr>
              <a:t>Administrative controls for semester lifecycle management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0698480" cy="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5394960" cy="46634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</a:rPr>
              <a:t>📅  Move the Week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5394960" cy="3657600"/>
          </a:xfrm>
          <a:prstGeom prst="roundRect">
            <a:avLst>
              <a:gd name="adj" fmla="val 3750"/>
            </a:avLst>
          </a:prstGeom>
          <a:solidFill>
            <a:srgbClr val="FFFEF0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" y="2121408"/>
            <a:ext cx="5065776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Lecturers advance to the next lecture week at a click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System tracks Week 1 through Week 14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Prevents accidental future-week marking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Week number is shown on all attendance views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HOD can override the current week at any time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Protects historical records — past weeks are locked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371600"/>
            <a:ext cx="5212080" cy="46634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6B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508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B74"/>
                </a:solidFill>
              </a:rPr>
              <a:t>🎓  Open Next Semester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2011680"/>
            <a:ext cx="5212080" cy="3657600"/>
          </a:xfrm>
          <a:prstGeom prst="roundRect">
            <a:avLst>
              <a:gd name="adj" fmla="val 3750"/>
            </a:avLst>
          </a:prstGeom>
          <a:solidFill>
            <a:srgbClr val="F0FFFE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2121408"/>
            <a:ext cx="4882896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HOD-only action — no lecturer can trigger this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Archives all current semester attendance records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Resets week counter back to Week 1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Generates a fresh attendance sheet for new subjects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Students retain verification across semesters</a:t>
            </a:r>
            <a:endParaRPr lang="en-US" sz="1250" dirty="0"/>
          </a:p>
          <a:p>
            <a:pPr>
              <a:spcBef>
                <a:spcPts val="400"/>
              </a:spcBef>
            </a:pPr>
            <a:r>
              <a:rPr lang="en-US" sz="1250" dirty="0">
                <a:solidFill>
                  <a:srgbClr val="0D1B2A"/>
                </a:solidFill>
              </a:rPr>
              <a:t>Full audit trail entry is created on activation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</a:rPr>
              <a:t>Freeze a Section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868680"/>
            <a:ext cx="1069848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DB8"/>
                </a:solidFill>
              </a:rPr>
              <a:t>🔒  After Week 14, the HOD can freeze any subject section — locking all attendance records permanently.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3749040" cy="1828800"/>
          </a:xfrm>
          <a:prstGeom prst="roundRect">
            <a:avLst>
              <a:gd name="adj" fmla="val 900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🔒  Section-Level Lock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671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ADB8"/>
                </a:solidFill>
              </a:rPr>
              <a:t>Each subject section (e.g., CS Group A) can be frozen independently. Granular control.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3749040" cy="1828800"/>
          </a:xfrm>
          <a:prstGeom prst="roundRect">
            <a:avLst>
              <a:gd name="adj" fmla="val 900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🛡️  Tamper Protection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1671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ADB8"/>
                </a:solidFill>
              </a:rPr>
              <a:t>Once frozen, no lecturer can add, edit, or delete attendance. HOD retains override.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49640" y="1600200"/>
            <a:ext cx="3749040" cy="1828800"/>
          </a:xfrm>
          <a:prstGeom prst="roundRect">
            <a:avLst>
              <a:gd name="adj" fmla="val 900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📜  Audit on Freeze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21671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ADB8"/>
                </a:solidFill>
              </a:rPr>
              <a:t>The freeze action is logged — who froze it, when, and which section. Fully auditable.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657600"/>
            <a:ext cx="3749040" cy="1828800"/>
          </a:xfrm>
          <a:prstGeom prst="roundRect">
            <a:avLst>
              <a:gd name="adj" fmla="val 900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🔓  HOD Unfreeze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ADB8"/>
                </a:solidFill>
              </a:rPr>
              <a:t>Only the Head of Department can unfreeze a section, with a logged justification reason.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3657600"/>
            <a:ext cx="3749040" cy="1828800"/>
          </a:xfrm>
          <a:prstGeom prst="roundRect">
            <a:avLst>
              <a:gd name="adj" fmla="val 900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👁️  Read-Only 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42245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ADB8"/>
                </a:solidFill>
              </a:rPr>
              <a:t>Frozen sections remain fully visible to lecturers and students — just no edits allowed.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49640" y="3657600"/>
            <a:ext cx="3749040" cy="1828800"/>
          </a:xfrm>
          <a:prstGeom prst="roundRect">
            <a:avLst>
              <a:gd name="adj" fmla="val 9000"/>
            </a:avLst>
          </a:prstGeom>
          <a:solidFill>
            <a:srgbClr val="152638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✅  Exam Readiness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0" y="42245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A0ADB8"/>
                </a:solidFill>
              </a:rPr>
              <a:t>Freeze signals that eligibility lists are finalised and ready for the exam registrar.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Official Excel Attendance Sheet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6B74"/>
                </a:solidFill>
              </a:rPr>
              <a:t>One-click bulk import — from official university registers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0698480" cy="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56692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4813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14630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Upload .xlsx 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1874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Lecturer or HOD uploads the official university attendance Excel sheet via the Import tab.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0"/>
            <a:ext cx="56692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3408" y="148132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33488" y="14630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Auto-Detect Columns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33488" y="1874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The importer reads column headers (Index No, Week 1–14, etc.) and maps them automatically.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2944368"/>
            <a:ext cx="56692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305409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44168" y="30358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Validate Records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44168" y="344728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Each row is checked against verified student index numbers. Unknowns are flagged, not silently skipped.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2944368"/>
            <a:ext cx="56692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3408" y="305409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33488" y="303580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Status Mapping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33488" y="344728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P/A/M/E codes from the sheet are converted to Present / Absent / Medical / Excused in the database.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4517136"/>
            <a:ext cx="56692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" y="462686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4626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44168" y="46085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Preview &amp; Confirm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44168" y="502005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A summary of changes is shown before saving. Lecturers see exactly what will be written.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4517136"/>
            <a:ext cx="566928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A6B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93408" y="462686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A6B74"/>
          </a:solidFill>
          <a:ln w="12700">
            <a:solidFill>
              <a:srgbClr val="1A6B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626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33488" y="46085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Instant Eligibility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33488" y="502005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</a:rPr>
              <a:t>After import, the 80 % engine recalculates all eligibility statuses in real time.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</a:rPr>
              <a:t>HOD Audit Log  &amp;  Recent Actions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868680"/>
            <a:ext cx="1069848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DB8"/>
                </a:solidFill>
              </a:rPr>
              <a:t>Every privileged action is recorded. The HOD can see what changed, who changed it, and when.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109728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4630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463040"/>
            <a:ext cx="228600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1856232" y="1463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463040"/>
            <a:ext cx="292608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4233672" y="14630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1463040"/>
            <a:ext cx="4572000" cy="3840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7251192" y="14630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1874520"/>
            <a:ext cx="109728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18745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08:14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83080" y="1874520"/>
            <a:ext cx="228600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18" name="Text 16"/>
          <p:cNvSpPr/>
          <p:nvPr/>
        </p:nvSpPr>
        <p:spPr>
          <a:xfrm>
            <a:off x="1856232" y="18745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Dr. Kulathilake (HOD)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1874520"/>
            <a:ext cx="292608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20" name="Text 18"/>
          <p:cNvSpPr/>
          <p:nvPr/>
        </p:nvSpPr>
        <p:spPr>
          <a:xfrm>
            <a:off x="4233672" y="18745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Override Record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78040" y="1874520"/>
            <a:ext cx="457200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22" name="Text 20"/>
          <p:cNvSpPr/>
          <p:nvPr/>
        </p:nvSpPr>
        <p:spPr>
          <a:xfrm>
            <a:off x="7251192" y="187452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Changed Nimesha Silva Wk-12 → Medical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2560320"/>
            <a:ext cx="1097280" cy="658368"/>
          </a:xfrm>
          <a:prstGeom prst="rect">
            <a:avLst/>
          </a:prstGeom>
          <a:solidFill>
            <a:srgbClr val="1A2D40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25603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08:32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83080" y="2560320"/>
            <a:ext cx="2286000" cy="658368"/>
          </a:xfrm>
          <a:prstGeom prst="rect">
            <a:avLst/>
          </a:prstGeom>
          <a:solidFill>
            <a:srgbClr val="1A2D40"/>
          </a:solidFill>
          <a:ln/>
        </p:spPr>
      </p:sp>
      <p:sp>
        <p:nvSpPr>
          <p:cNvPr id="26" name="Text 24"/>
          <p:cNvSpPr/>
          <p:nvPr/>
        </p:nvSpPr>
        <p:spPr>
          <a:xfrm>
            <a:off x="1856232" y="25603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Lect. Jayasuriya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60520" y="2560320"/>
            <a:ext cx="2926080" cy="658368"/>
          </a:xfrm>
          <a:prstGeom prst="rect">
            <a:avLst/>
          </a:prstGeom>
          <a:solidFill>
            <a:srgbClr val="1A2D40"/>
          </a:solidFill>
          <a:ln/>
        </p:spPr>
      </p:sp>
      <p:sp>
        <p:nvSpPr>
          <p:cNvPr id="28" name="Text 26"/>
          <p:cNvSpPr/>
          <p:nvPr/>
        </p:nvSpPr>
        <p:spPr>
          <a:xfrm>
            <a:off x="4233672" y="25603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Import Excel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2560320"/>
            <a:ext cx="4572000" cy="658368"/>
          </a:xfrm>
          <a:prstGeom prst="rect">
            <a:avLst/>
          </a:prstGeom>
          <a:solidFill>
            <a:srgbClr val="1A2D40"/>
          </a:solidFill>
          <a:ln/>
        </p:spPr>
      </p:sp>
      <p:sp>
        <p:nvSpPr>
          <p:cNvPr id="30" name="Text 28"/>
          <p:cNvSpPr/>
          <p:nvPr/>
        </p:nvSpPr>
        <p:spPr>
          <a:xfrm>
            <a:off x="7251192" y="256032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Imported 42 records, Week 8, CS2301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3246120"/>
            <a:ext cx="109728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" y="32461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09:05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783080" y="3246120"/>
            <a:ext cx="228600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34" name="Text 32"/>
          <p:cNvSpPr/>
          <p:nvPr/>
        </p:nvSpPr>
        <p:spPr>
          <a:xfrm>
            <a:off x="1856232" y="32461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Dr. Kulathilake (HOD)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60520" y="3246120"/>
            <a:ext cx="292608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36" name="Text 34"/>
          <p:cNvSpPr/>
          <p:nvPr/>
        </p:nvSpPr>
        <p:spPr>
          <a:xfrm>
            <a:off x="4233672" y="32461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Freeze Section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78040" y="3246120"/>
            <a:ext cx="457200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38" name="Text 36"/>
          <p:cNvSpPr/>
          <p:nvPr/>
        </p:nvSpPr>
        <p:spPr>
          <a:xfrm>
            <a:off x="7251192" y="324612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Froze CS Group A – Semester 1 2024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" y="3931920"/>
            <a:ext cx="1097280" cy="658368"/>
          </a:xfrm>
          <a:prstGeom prst="rect">
            <a:avLst/>
          </a:prstGeom>
          <a:solidFill>
            <a:srgbClr val="1A2D40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" y="39319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10:18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83080" y="3931920"/>
            <a:ext cx="2286000" cy="658368"/>
          </a:xfrm>
          <a:prstGeom prst="rect">
            <a:avLst/>
          </a:prstGeom>
          <a:solidFill>
            <a:srgbClr val="1A2D40"/>
          </a:solidFill>
          <a:ln/>
        </p:spPr>
      </p:sp>
      <p:sp>
        <p:nvSpPr>
          <p:cNvPr id="42" name="Text 40"/>
          <p:cNvSpPr/>
          <p:nvPr/>
        </p:nvSpPr>
        <p:spPr>
          <a:xfrm>
            <a:off x="1856232" y="39319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Dr. Kulathilake (HOD)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60520" y="3931920"/>
            <a:ext cx="2926080" cy="658368"/>
          </a:xfrm>
          <a:prstGeom prst="rect">
            <a:avLst/>
          </a:prstGeom>
          <a:solidFill>
            <a:srgbClr val="1A2D40"/>
          </a:solidFill>
          <a:ln/>
        </p:spPr>
      </p:sp>
      <p:sp>
        <p:nvSpPr>
          <p:cNvPr id="44" name="Text 42"/>
          <p:cNvSpPr/>
          <p:nvPr/>
        </p:nvSpPr>
        <p:spPr>
          <a:xfrm>
            <a:off x="4233672" y="39319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Open Next Sem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178040" y="3931920"/>
            <a:ext cx="4572000" cy="658368"/>
          </a:xfrm>
          <a:prstGeom prst="rect">
            <a:avLst/>
          </a:prstGeom>
          <a:solidFill>
            <a:srgbClr val="1A2D40"/>
          </a:solidFill>
          <a:ln/>
        </p:spPr>
      </p:sp>
      <p:sp>
        <p:nvSpPr>
          <p:cNvPr id="46" name="Text 44"/>
          <p:cNvSpPr/>
          <p:nvPr/>
        </p:nvSpPr>
        <p:spPr>
          <a:xfrm>
            <a:off x="7251192" y="393192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Archived S1-2024, opened S2-2024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4360" y="4617720"/>
            <a:ext cx="109728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12" y="46177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11:47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783080" y="4617720"/>
            <a:ext cx="228600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50" name="Text 48"/>
          <p:cNvSpPr/>
          <p:nvPr/>
        </p:nvSpPr>
        <p:spPr>
          <a:xfrm>
            <a:off x="1856232" y="46177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Lect. Bandara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60520" y="4617720"/>
            <a:ext cx="292608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52" name="Text 50"/>
          <p:cNvSpPr/>
          <p:nvPr/>
        </p:nvSpPr>
        <p:spPr>
          <a:xfrm>
            <a:off x="4233672" y="46177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Move Week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178040" y="4617720"/>
            <a:ext cx="4572000" cy="658368"/>
          </a:xfrm>
          <a:prstGeom prst="rect">
            <a:avLst/>
          </a:prstGeom>
          <a:solidFill>
            <a:srgbClr val="152638"/>
          </a:solidFill>
          <a:ln/>
        </p:spPr>
      </p:sp>
      <p:sp>
        <p:nvSpPr>
          <p:cNvPr id="54" name="Text 52"/>
          <p:cNvSpPr/>
          <p:nvPr/>
        </p:nvSpPr>
        <p:spPr>
          <a:xfrm>
            <a:off x="7251192" y="461772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Advanced Week 9 → Week 10, CS2201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" y="60807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860B"/>
                </a:solidFill>
              </a:rPr>
              <a:t>Audit logs are permanent — cannot be edited or deleted, even by the HOD.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86868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6B74"/>
                </a:solidFill>
              </a:rPr>
              <a:t>Vercel Edge CDN  ·  Aiven MySQL  ·  Supabase Storage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10698480" cy="0"/>
          </a:xfrm>
          <a:prstGeom prst="line">
            <a:avLst/>
          </a:prstGeom>
          <a:noFill/>
          <a:ln w="317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2468880" cy="1234440"/>
          </a:xfrm>
          <a:prstGeom prst="roundRect">
            <a:avLst>
              <a:gd name="adj" fmla="val 14815"/>
            </a:avLst>
          </a:prstGeom>
          <a:solidFill>
            <a:srgbClr val="E4E8EC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84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(Any Device)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2468880" cy="1234440"/>
          </a:xfrm>
          <a:prstGeom prst="roundRect">
            <a:avLst>
              <a:gd name="adj" fmla="val 14815"/>
            </a:avLst>
          </a:prstGeom>
          <a:solidFill>
            <a:srgbClr val="D0EBEE"/>
          </a:solidFill>
          <a:ln w="25400">
            <a:solidFill>
              <a:srgbClr val="1A6B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084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5420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Vercel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Edge CDN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280160"/>
            <a:ext cx="2468880" cy="1234440"/>
          </a:xfrm>
          <a:prstGeom prst="roundRect">
            <a:avLst>
              <a:gd name="adj" fmla="val 14815"/>
            </a:avLst>
          </a:prstGeom>
          <a:solidFill>
            <a:srgbClr val="F5EAC4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3533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Serverless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API (Node.js)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2468880" cy="1234440"/>
          </a:xfrm>
          <a:prstGeom prst="roundRect">
            <a:avLst>
              <a:gd name="adj" fmla="val 14815"/>
            </a:avLst>
          </a:prstGeom>
          <a:solidFill>
            <a:srgbClr val="ECEEFF"/>
          </a:solidFill>
          <a:ln w="254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992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34564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Static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Frontend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09760" y="1280160"/>
            <a:ext cx="2468880" cy="1234440"/>
          </a:xfrm>
          <a:prstGeom prst="roundRect">
            <a:avLst>
              <a:gd name="adj" fmla="val 14815"/>
            </a:avLst>
          </a:prstGeom>
          <a:solidFill>
            <a:srgbClr val="E5F8EE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13533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09760" y="1810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Aiven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MySQL (SSL)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2926080"/>
            <a:ext cx="2468880" cy="1234440"/>
          </a:xfrm>
          <a:prstGeom prst="roundRect">
            <a:avLst>
              <a:gd name="adj" fmla="val 14815"/>
            </a:avLst>
          </a:prstGeom>
          <a:solidFill>
            <a:srgbClr val="E5ED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29992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509760" y="34564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Supabase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Storage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2624328"/>
            <a:ext cx="1188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5394960" y="1965960"/>
            <a:ext cx="1188720" cy="-5303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394960" y="2624328"/>
            <a:ext cx="1188720" cy="53035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8321040" y="1783080"/>
            <a:ext cx="1188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8321040" y="3246120"/>
            <a:ext cx="11887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94360" y="4709160"/>
            <a:ext cx="28346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4773168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Vercel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" y="512064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Serverless functions · Edge CDN · HTTPS · Zero-config deploy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0" y="4709160"/>
            <a:ext cx="28346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4773168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Aiven MySQL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67328" y="512064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Managed cloud MySQL · SSL encrypted · Port 26308 · Auto-seeded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20840" y="4709160"/>
            <a:ext cx="28346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0568" y="4773168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Supabase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30568" y="512064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Object storage · Medicals bucket · Signed URLs · PDF &amp; images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784080" y="4709160"/>
            <a:ext cx="283464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8CD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93808" y="4773168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Node.js ES Module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93808" y="512064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server.js as both local server &amp; Vercel handler · mysql2/promise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152638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8860B"/>
                </a:solidFill>
              </a:rPr>
              <a:t>RAJARATA UNIVERSITY · DEPARTMENT OF COMPUTING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to the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semester's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rules.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A4B5"/>
                </a:solidFill>
              </a:rPr>
              <a:t>SAM is live and ready for your department.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4572000"/>
            <a:ext cx="3200400" cy="594360"/>
          </a:xfrm>
          <a:prstGeom prst="roundRect">
            <a:avLst>
              <a:gd name="adj" fmla="val 5076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594360" y="45720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Visit Live App</a:t>
            </a:r>
            <a:endParaRPr lang="en-US" sz="15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594360" y="5230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4A607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https://prime-coders-sams.vercel.app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571500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7150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Role-Based Login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24912" y="5715000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57150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Verified Students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46904" y="57150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57150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80% Engine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28816" y="571500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536" y="5715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Medical Storage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67928" y="571500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57150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Excel Import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608076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080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Freeze Section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42032" y="60807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60807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HOD Audit Log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98264" y="608076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3984" y="6080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Aiven Cloud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71616" y="60807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 w="12700">
            <a:solidFill>
              <a:srgbClr val="2D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60807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Vercel Deploy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62179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0"/>
                </a:solidFill>
              </a:rPr>
              <a:t>ICT 1407  ·  Prime Coders  ·  Student Attendance Management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263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Rajarata University of Sri Lanka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 – Student Attendance Management System</dc:title>
  <dc:subject>Student Attendance Management System</dc:subject>
  <dc:creator>Prime Coders – ICT 1407</dc:creator>
  <cp:lastModifiedBy>Prime Coders – ICT 1407</cp:lastModifiedBy>
  <cp:revision>1</cp:revision>
  <dcterms:created xsi:type="dcterms:W3CDTF">2026-10-25T14:12:47Z</dcterms:created>
  <dcterms:modified xsi:type="dcterms:W3CDTF">2026-10-25T14:12:47Z</dcterms:modified>
</cp:coreProperties>
</file>